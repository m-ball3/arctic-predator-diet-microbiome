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6576000" cy="2926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C"/>
    <a:srgbClr val="C6DDF2"/>
    <a:srgbClr val="71A8D1"/>
    <a:srgbClr val="36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92" autoAdjust="0"/>
    <p:restoredTop sz="94660"/>
  </p:normalViewPr>
  <p:slideViewPr>
    <p:cSldViewPr snapToGrid="0">
      <p:cViewPr>
        <p:scale>
          <a:sx n="30" d="100"/>
          <a:sy n="30" d="100"/>
        </p:scale>
        <p:origin x="309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llie E Ball" userId="e16d4908-3923-42c9-be12-4d804d0f8f30" providerId="ADAL" clId="{D2A5A728-ABAD-49C3-B3F0-D0CF53EF6DD0}"/>
    <pc:docChg chg="modSld">
      <pc:chgData name="Mollie E Ball" userId="e16d4908-3923-42c9-be12-4d804d0f8f30" providerId="ADAL" clId="{D2A5A728-ABAD-49C3-B3F0-D0CF53EF6DD0}" dt="2026-08-06T02:19:31.583" v="1"/>
      <pc:docMkLst>
        <pc:docMk/>
      </pc:docMkLst>
      <pc:sldChg chg="addSp delSp">
        <pc:chgData name="Mollie E Ball" userId="e16d4908-3923-42c9-be12-4d804d0f8f30" providerId="ADAL" clId="{D2A5A728-ABAD-49C3-B3F0-D0CF53EF6DD0}" dt="2026-08-06T02:19:31.583" v="1"/>
        <pc:sldMkLst>
          <pc:docMk/>
          <pc:sldMk cId="4118663910" sldId="256"/>
        </pc:sldMkLst>
        <pc:picChg chg="add">
          <ac:chgData name="Mollie E Ball" userId="e16d4908-3923-42c9-be12-4d804d0f8f30" providerId="ADAL" clId="{D2A5A728-ABAD-49C3-B3F0-D0CF53EF6DD0}" dt="2026-08-06T02:19:31.583" v="1"/>
          <ac:picMkLst>
            <pc:docMk/>
            <pc:sldMk cId="4118663910" sldId="256"/>
            <ac:picMk id="47" creationId="{56279F78-98A4-AB69-0546-E9AFC54F51A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4788749"/>
            <a:ext cx="31089600" cy="10187093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5368695"/>
            <a:ext cx="27432000" cy="7064585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9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2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7294888"/>
            <a:ext cx="31546800" cy="1217167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19581715"/>
            <a:ext cx="31546800" cy="640079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8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7789333"/>
            <a:ext cx="1554480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7789333"/>
            <a:ext cx="15544800" cy="18565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0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557873"/>
            <a:ext cx="31546800" cy="5655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7172962"/>
            <a:ext cx="15473360" cy="351535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0688320"/>
            <a:ext cx="15473360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7172962"/>
            <a:ext cx="15549564" cy="351535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0688320"/>
            <a:ext cx="15549564" cy="157209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0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7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0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950720"/>
            <a:ext cx="11796712" cy="682752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4213020"/>
            <a:ext cx="18516600" cy="20794133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778240"/>
            <a:ext cx="11796712" cy="16262775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4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950720"/>
            <a:ext cx="11796712" cy="682752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4213020"/>
            <a:ext cx="18516600" cy="20794133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8778240"/>
            <a:ext cx="11796712" cy="16262775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4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8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557867"/>
            <a:ext cx="7886700" cy="247971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557867"/>
            <a:ext cx="23202900" cy="2479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53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557873"/>
            <a:ext cx="31546800" cy="5655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7789333"/>
            <a:ext cx="31546800" cy="18565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27120433"/>
            <a:ext cx="82296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0A1D5-19AC-4528-9DDE-DE7EFDBD9B15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27120433"/>
            <a:ext cx="123444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27120433"/>
            <a:ext cx="8229600" cy="1557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E3677-5552-4F9A-8860-0160AEB9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5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gi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25276DB-9764-13FD-78A3-A9278D265C98}"/>
              </a:ext>
            </a:extLst>
          </p:cNvPr>
          <p:cNvSpPr/>
          <p:nvPr/>
        </p:nvSpPr>
        <p:spPr>
          <a:xfrm>
            <a:off x="0" y="4267198"/>
            <a:ext cx="36576000" cy="249936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7AE5A5-E57F-1276-9D52-95B771FCA742}"/>
              </a:ext>
            </a:extLst>
          </p:cNvPr>
          <p:cNvSpPr/>
          <p:nvPr/>
        </p:nvSpPr>
        <p:spPr>
          <a:xfrm>
            <a:off x="0" y="0"/>
            <a:ext cx="36576000" cy="4267198"/>
          </a:xfrm>
          <a:prstGeom prst="rect">
            <a:avLst/>
          </a:prstGeom>
          <a:solidFill>
            <a:srgbClr val="EFF3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B26A3-74EC-C462-907D-77A56D3084B4}"/>
              </a:ext>
            </a:extLst>
          </p:cNvPr>
          <p:cNvSpPr txBox="1"/>
          <p:nvPr/>
        </p:nvSpPr>
        <p:spPr>
          <a:xfrm>
            <a:off x="7646897" y="556484"/>
            <a:ext cx="2128223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dirty="0"/>
              <a:t>Gut Check for Ocean Health: </a:t>
            </a:r>
          </a:p>
          <a:p>
            <a:pPr algn="ctr"/>
            <a:r>
              <a:rPr lang="en-US" sz="6600" dirty="0"/>
              <a:t>Characteristic Harbor Seal </a:t>
            </a:r>
            <a:r>
              <a:rPr lang="en-US" sz="6600" i="1" dirty="0"/>
              <a:t>(Phoca </a:t>
            </a:r>
            <a:r>
              <a:rPr lang="en-US" sz="6600" i="1" dirty="0" err="1"/>
              <a:t>vitulina</a:t>
            </a:r>
            <a:r>
              <a:rPr lang="en-US" sz="6600" i="1" dirty="0"/>
              <a:t>) </a:t>
            </a:r>
            <a:r>
              <a:rPr lang="en-US" sz="6600" dirty="0"/>
              <a:t>Gut Microbiota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15FE3B3-7966-4EAD-DFCB-D7CC96900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0C9E50-7501-E6F0-7858-FFF1F7996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08" y="345406"/>
            <a:ext cx="2334731" cy="2334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34FF29-5707-E8DB-D9B6-B1865A260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561" y="362876"/>
            <a:ext cx="2334731" cy="23347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5195EA-1C82-6C60-0236-5C62B02D5F70}"/>
              </a:ext>
            </a:extLst>
          </p:cNvPr>
          <p:cNvSpPr txBox="1"/>
          <p:nvPr/>
        </p:nvSpPr>
        <p:spPr>
          <a:xfrm>
            <a:off x="12146543" y="3028892"/>
            <a:ext cx="122829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Mollie Ball, Amy Van Cise</a:t>
            </a:r>
          </a:p>
          <a:p>
            <a:pPr algn="ctr"/>
            <a:r>
              <a:rPr lang="en-US" sz="2800" dirty="0"/>
              <a:t>School of Aquatic and Fishery Sciences , University of Washington, Seattle, WA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EA6E90-4AC5-7242-B891-F3A0F8F22CC8}"/>
              </a:ext>
            </a:extLst>
          </p:cNvPr>
          <p:cNvSpPr txBox="1"/>
          <p:nvPr/>
        </p:nvSpPr>
        <p:spPr>
          <a:xfrm>
            <a:off x="201706" y="5112570"/>
            <a:ext cx="101935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Marine mammals contribute billions of dollars to the blue economy through tourism, ecosystem services, and cultural identity. </a:t>
            </a:r>
          </a:p>
          <a:p>
            <a:endParaRPr lang="en-US" sz="3200" dirty="0"/>
          </a:p>
          <a:p>
            <a:r>
              <a:rPr lang="en-US" sz="3200" dirty="0"/>
              <a:t>However, health assessments remain costly, invasive, and logistically challenging, all of which limit our ability to anticipate individual-, population-, and ecosystem-level impacts.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54DA8-04CA-4852-81FA-70BF519B8236}"/>
              </a:ext>
            </a:extLst>
          </p:cNvPr>
          <p:cNvSpPr txBox="1"/>
          <p:nvPr/>
        </p:nvSpPr>
        <p:spPr>
          <a:xfrm>
            <a:off x="201706" y="4314966"/>
            <a:ext cx="9228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Background</a:t>
            </a:r>
            <a:endParaRPr lang="en-US" sz="48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AFE405-DB86-FC12-931C-18B8380B9F12}"/>
              </a:ext>
            </a:extLst>
          </p:cNvPr>
          <p:cNvSpPr/>
          <p:nvPr/>
        </p:nvSpPr>
        <p:spPr>
          <a:xfrm>
            <a:off x="10460158" y="4267198"/>
            <a:ext cx="15989388" cy="24993602"/>
          </a:xfrm>
          <a:prstGeom prst="rect">
            <a:avLst/>
          </a:prstGeom>
          <a:solidFill>
            <a:srgbClr val="EFF3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FF3F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EE2501-58F0-0DC3-8B89-8500C51548A4}"/>
              </a:ext>
            </a:extLst>
          </p:cNvPr>
          <p:cNvSpPr txBox="1"/>
          <p:nvPr/>
        </p:nvSpPr>
        <p:spPr>
          <a:xfrm>
            <a:off x="26589108" y="5166977"/>
            <a:ext cx="998689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five main groups present in the GUT WERE are Firmicutes, Proteobacteria, Fusobacteria, Actinobacteria, and Bacteroidetes.</a:t>
            </a:r>
          </a:p>
          <a:p>
            <a:endParaRPr lang="en-US" sz="3200" dirty="0"/>
          </a:p>
          <a:p>
            <a:r>
              <a:rPr lang="en-US" sz="3200" dirty="0"/>
              <a:t>DIFFERENCES ARE DRIVEN BY</a:t>
            </a:r>
          </a:p>
          <a:p>
            <a:endParaRPr lang="en-US" sz="4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7308C1-6387-60BE-36D3-3F747E082842}"/>
              </a:ext>
            </a:extLst>
          </p:cNvPr>
          <p:cNvSpPr txBox="1"/>
          <p:nvPr/>
        </p:nvSpPr>
        <p:spPr>
          <a:xfrm>
            <a:off x="26524234" y="4314967"/>
            <a:ext cx="77599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Conclusions</a:t>
            </a:r>
            <a:endParaRPr lang="en-US" sz="4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C9883A-53F8-B1E0-8812-589444613B6B}"/>
              </a:ext>
            </a:extLst>
          </p:cNvPr>
          <p:cNvSpPr txBox="1"/>
          <p:nvPr/>
        </p:nvSpPr>
        <p:spPr>
          <a:xfrm>
            <a:off x="26589108" y="12497011"/>
            <a:ext cx="8100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As the science of using the microbiome as a health index matures, we look towards </a:t>
            </a:r>
          </a:p>
          <a:p>
            <a:pPr marL="514350" indent="-514350">
              <a:buAutoNum type="arabicParenBoth"/>
            </a:pPr>
            <a:r>
              <a:rPr lang="en-US" sz="3200" dirty="0"/>
              <a:t>expanding this analysis to more marine mammal taxa</a:t>
            </a:r>
          </a:p>
          <a:p>
            <a:pPr marL="514350" indent="-514350">
              <a:buAutoNum type="arabicParenBoth"/>
            </a:pPr>
            <a:r>
              <a:rPr lang="en-US" sz="3200" dirty="0"/>
              <a:t>integrating this information into monitoring to improve management to support the persistence of marine mammals as vital drivers of ocean and economic health.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B8AE5E-B70C-84F9-51EA-C8CD6F8F4C89}"/>
              </a:ext>
            </a:extLst>
          </p:cNvPr>
          <p:cNvSpPr txBox="1"/>
          <p:nvPr/>
        </p:nvSpPr>
        <p:spPr>
          <a:xfrm>
            <a:off x="26589108" y="11666014"/>
            <a:ext cx="77599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Future Directions</a:t>
            </a:r>
            <a:endParaRPr lang="en-US" sz="4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3018A8-033B-08C1-21F9-A6738882E005}"/>
              </a:ext>
            </a:extLst>
          </p:cNvPr>
          <p:cNvSpPr txBox="1"/>
          <p:nvPr/>
        </p:nvSpPr>
        <p:spPr>
          <a:xfrm>
            <a:off x="26524235" y="25951644"/>
            <a:ext cx="9293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Figure 4.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Circular impacts of climate change stressors and gut microbiome on host physiology.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(Adapted from Litchman, 2025)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0A1B8F6-A420-E432-F5DF-0B9C748C7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5434" y="16928994"/>
            <a:ext cx="10105099" cy="904905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54ACE87-28ED-D17A-798A-B0C8CDB61ABD}"/>
              </a:ext>
            </a:extLst>
          </p:cNvPr>
          <p:cNvSpPr txBox="1"/>
          <p:nvPr/>
        </p:nvSpPr>
        <p:spPr>
          <a:xfrm>
            <a:off x="26563272" y="26675310"/>
            <a:ext cx="75355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References</a:t>
            </a:r>
            <a:endParaRPr lang="en-US" sz="3200" b="1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795195C-DB94-AA1F-71BF-7A952998A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71" y="12209419"/>
            <a:ext cx="10020302" cy="1002030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F95FC1E-F4B9-293F-4F65-6784B6B3D4E7}"/>
              </a:ext>
            </a:extLst>
          </p:cNvPr>
          <p:cNvSpPr txBox="1"/>
          <p:nvPr/>
        </p:nvSpPr>
        <p:spPr>
          <a:xfrm>
            <a:off x="-3057" y="22634755"/>
            <a:ext cx="10020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1. </a:t>
            </a:r>
            <a:r>
              <a:rPr lang="en-US" dirty="0"/>
              <a:t>Possible consequences of dysbiosis of gut microbial communities in humans. (From Hou et al., 2022)</a:t>
            </a:r>
            <a:endParaRPr lang="en-US" b="1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3EE7CE1-EABA-9C78-9B77-3A516FAFC4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271" y="26515026"/>
            <a:ext cx="2746786" cy="27467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E7536A-A256-F5EE-8523-475ACA8D063A}"/>
              </a:ext>
            </a:extLst>
          </p:cNvPr>
          <p:cNvSpPr txBox="1"/>
          <p:nvPr/>
        </p:nvSpPr>
        <p:spPr>
          <a:xfrm>
            <a:off x="10501595" y="9044182"/>
            <a:ext cx="159065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The microbiome is emerging as a powerful non-invasive tool for health screening.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425EC2-90DB-D656-1FAF-0A57CE35C925}"/>
              </a:ext>
            </a:extLst>
          </p:cNvPr>
          <p:cNvSpPr txBox="1"/>
          <p:nvPr/>
        </p:nvSpPr>
        <p:spPr>
          <a:xfrm>
            <a:off x="221914" y="8471767"/>
            <a:ext cx="10173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3200" dirty="0"/>
              <a:t>Gut microbes play essential roles in digestion, immunity, and stress response, making them a powerful indicator of marine mammal and ecosystem health</a:t>
            </a:r>
            <a:r>
              <a:rPr lang="en-US" sz="3200" b="1" dirty="0"/>
              <a:t>.</a:t>
            </a:r>
            <a:endParaRPr lang="en-US" sz="3200" dirty="0"/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C0A58F-8840-E9B2-1E26-A0EF9AEC1A82}"/>
              </a:ext>
            </a:extLst>
          </p:cNvPr>
          <p:cNvSpPr txBox="1"/>
          <p:nvPr/>
        </p:nvSpPr>
        <p:spPr>
          <a:xfrm>
            <a:off x="26524234" y="27017464"/>
            <a:ext cx="77599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Bhargava, S., </a:t>
            </a:r>
            <a:r>
              <a:rPr lang="en-US" dirty="0" err="1"/>
              <a:t>Merckelbach</a:t>
            </a:r>
            <a:r>
              <a:rPr lang="en-US" dirty="0"/>
              <a:t>, E., Noels, H., Vohra, A. &amp; Jankowski, J. </a:t>
            </a:r>
            <a:r>
              <a:rPr lang="en-US" i="1" dirty="0"/>
              <a:t>Toxins</a:t>
            </a:r>
            <a:r>
              <a:rPr lang="en-US" dirty="0"/>
              <a:t> </a:t>
            </a:r>
            <a:r>
              <a:rPr lang="en-US" b="1" dirty="0"/>
              <a:t>14</a:t>
            </a:r>
            <a:r>
              <a:rPr lang="en-US" dirty="0"/>
              <a:t>, 648 (2022).</a:t>
            </a:r>
          </a:p>
          <a:p>
            <a:r>
              <a:rPr lang="en-US" dirty="0"/>
              <a:t>2. Hou, K. </a:t>
            </a:r>
            <a:r>
              <a:rPr lang="en-US" i="1" dirty="0"/>
              <a:t>et al.</a:t>
            </a:r>
            <a:r>
              <a:rPr lang="en-US" dirty="0"/>
              <a:t> </a:t>
            </a:r>
            <a:r>
              <a:rPr lang="en-US" i="1" dirty="0"/>
              <a:t>Sig </a:t>
            </a:r>
            <a:r>
              <a:rPr lang="en-US" i="1" dirty="0" err="1"/>
              <a:t>Transduct</a:t>
            </a:r>
            <a:r>
              <a:rPr lang="en-US" i="1" dirty="0"/>
              <a:t> Target Ther</a:t>
            </a:r>
            <a:r>
              <a:rPr lang="en-US" dirty="0"/>
              <a:t> </a:t>
            </a:r>
            <a:r>
              <a:rPr lang="en-US" b="1" dirty="0"/>
              <a:t>7</a:t>
            </a:r>
            <a:r>
              <a:rPr lang="en-US" dirty="0"/>
              <a:t>, 135 (2022).</a:t>
            </a:r>
          </a:p>
          <a:p>
            <a:r>
              <a:rPr lang="en-US" dirty="0"/>
              <a:t>3. Litchman, E. </a:t>
            </a:r>
            <a:r>
              <a:rPr lang="en-US" i="1" dirty="0"/>
              <a:t>The Lancet Planetary Health</a:t>
            </a:r>
            <a:r>
              <a:rPr lang="en-US" dirty="0"/>
              <a:t> </a:t>
            </a:r>
            <a:r>
              <a:rPr lang="en-US" b="1" dirty="0"/>
              <a:t>9</a:t>
            </a:r>
            <a:r>
              <a:rPr lang="en-US" dirty="0"/>
              <a:t>, e134–e144 (2025).</a:t>
            </a:r>
          </a:p>
          <a:p>
            <a:r>
              <a:rPr lang="en-US" dirty="0"/>
              <a:t>4. Nelson, T. M., Apprill, A., Mann, J., Rogers, T. L. &amp; Brown, M. V. </a:t>
            </a:r>
            <a:r>
              <a:rPr lang="en-US" i="1" dirty="0" err="1"/>
              <a:t>Microbiol</a:t>
            </a:r>
            <a:r>
              <a:rPr lang="en-US" i="1" dirty="0"/>
              <a:t>. Aust.</a:t>
            </a:r>
            <a:r>
              <a:rPr lang="en-US" dirty="0"/>
              <a:t> </a:t>
            </a:r>
            <a:r>
              <a:rPr lang="en-US" b="1" dirty="0"/>
              <a:t>36</a:t>
            </a:r>
            <a:r>
              <a:rPr lang="en-US" dirty="0"/>
              <a:t>, 8 (2015).</a:t>
            </a:r>
          </a:p>
          <a:p>
            <a:r>
              <a:rPr lang="en-US" dirty="0"/>
              <a:t>5. </a:t>
            </a:r>
            <a:r>
              <a:rPr lang="en-US" dirty="0" err="1"/>
              <a:t>Sonnega</a:t>
            </a:r>
            <a:r>
              <a:rPr lang="en-US" dirty="0"/>
              <a:t>, S. &amp; Sheriff, M. J. </a:t>
            </a:r>
            <a:r>
              <a:rPr lang="en-US" i="1" dirty="0"/>
              <a:t>Front Vet Sci</a:t>
            </a:r>
            <a:r>
              <a:rPr lang="en-US" dirty="0"/>
              <a:t> </a:t>
            </a:r>
            <a:r>
              <a:rPr lang="en-US" b="1" dirty="0"/>
              <a:t>11</a:t>
            </a:r>
            <a:r>
              <a:rPr lang="en-US" dirty="0"/>
              <a:t>, 1474028 (2024).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02D8B5-587F-E2B3-748C-CAF9E28B30D4}"/>
              </a:ext>
            </a:extLst>
          </p:cNvPr>
          <p:cNvSpPr txBox="1"/>
          <p:nvPr/>
        </p:nvSpPr>
        <p:spPr>
          <a:xfrm>
            <a:off x="10444691" y="20145027"/>
            <a:ext cx="1528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1. </a:t>
            </a:r>
            <a:r>
              <a:rPr lang="en-US" dirty="0"/>
              <a:t>Functions of gut microbes from the five most abundance phyla in the human gut (from Bhargava et al., 2022)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7EA7A9-1CB3-1B44-E5CB-8EB146960F5A}"/>
              </a:ext>
            </a:extLst>
          </p:cNvPr>
          <p:cNvSpPr txBox="1"/>
          <p:nvPr/>
        </p:nvSpPr>
        <p:spPr>
          <a:xfrm>
            <a:off x="10444690" y="19236539"/>
            <a:ext cx="1561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2. </a:t>
            </a:r>
            <a:r>
              <a:rPr lang="en-US" dirty="0"/>
              <a:t>Stacked bar plot of the eleven most abundant broad taxonomic groups of gut microbes found in </a:t>
            </a:r>
            <a:r>
              <a:rPr lang="en-US" i="1" dirty="0"/>
              <a:t>P. </a:t>
            </a:r>
            <a:r>
              <a:rPr lang="en-US" i="1" dirty="0" err="1"/>
              <a:t>vitulina</a:t>
            </a:r>
            <a:r>
              <a:rPr lang="en-US" dirty="0"/>
              <a:t> samples taken from NCBI SRA. The broad group Other includes both unclassified sequences and lesser groups (</a:t>
            </a:r>
            <a:r>
              <a:rPr lang="en-US" i="1" dirty="0"/>
              <a:t>n </a:t>
            </a:r>
            <a:r>
              <a:rPr lang="en-US" dirty="0"/>
              <a:t>= 833 samples)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D30EAC-A706-A5CC-5B52-51FAD92D65C4}"/>
              </a:ext>
            </a:extLst>
          </p:cNvPr>
          <p:cNvSpPr txBox="1"/>
          <p:nvPr/>
        </p:nvSpPr>
        <p:spPr>
          <a:xfrm>
            <a:off x="10543032" y="4314967"/>
            <a:ext cx="8532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Methods</a:t>
            </a:r>
            <a:endParaRPr lang="en-US" sz="48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45B9DE-0EC5-FAC0-F6F3-C134D6C4CE66}"/>
              </a:ext>
            </a:extLst>
          </p:cNvPr>
          <p:cNvSpPr txBox="1"/>
          <p:nvPr/>
        </p:nvSpPr>
        <p:spPr>
          <a:xfrm>
            <a:off x="26589109" y="9355214"/>
            <a:ext cx="7716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 3. </a:t>
            </a:r>
            <a:r>
              <a:rPr lang="en-US" i="1" dirty="0"/>
              <a:t>P. </a:t>
            </a:r>
            <a:r>
              <a:rPr lang="en-US" i="1" dirty="0" err="1"/>
              <a:t>vitulina</a:t>
            </a:r>
            <a:r>
              <a:rPr lang="en-US" i="1" dirty="0"/>
              <a:t> hauled out on rocks. 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81A2C7-1151-9470-A71B-C4CA4842A8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96" y="5033990"/>
            <a:ext cx="15916250" cy="35927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FAA80EF-8CBC-BFAA-C7C3-8A5A711B24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0276" y="362879"/>
            <a:ext cx="2334728" cy="23347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1A80120-0567-F279-FDAB-C5D8610483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764" y="377460"/>
            <a:ext cx="2334728" cy="234180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C565214-3604-967D-F1DC-1A386F577C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516" y="1743097"/>
            <a:ext cx="2334730" cy="23409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1BE0C23-F216-C641-B802-BAC47EC6B1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0240" y="5028746"/>
            <a:ext cx="15916250" cy="14727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6279F78-98A4-AB69-0546-E9AFC54F51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7983" y="1749309"/>
            <a:ext cx="2334727" cy="233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6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5162</TotalTime>
  <Words>456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Mollie E Ball</dc:creator>
  <cp:lastModifiedBy>Mollie E Ball</cp:lastModifiedBy>
  <cp:revision>2</cp:revision>
  <cp:lastPrinted>2026-04-22T21:57:12Z</cp:lastPrinted>
  <dcterms:created xsi:type="dcterms:W3CDTF">2026-04-07T16:45:10Z</dcterms:created>
  <dcterms:modified xsi:type="dcterms:W3CDTF">2026-08-06T02:20:02Z</dcterms:modified>
</cp:coreProperties>
</file>