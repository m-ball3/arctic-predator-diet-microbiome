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94660"/>
  </p:normalViewPr>
  <p:slideViewPr>
    <p:cSldViewPr snapToGrid="0">
      <p:cViewPr>
        <p:scale>
          <a:sx n="85" d="100"/>
          <a:sy n="85" d="100"/>
        </p:scale>
        <p:origin x="90"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0:39:47.680"/>
    </inkml:context>
    <inkml:brush xml:id="br0">
      <inkml:brushProperty name="width" value="0.2" units="cm"/>
      <inkml:brushProperty name="height" value="0.2" units="cm"/>
      <inkml:brushProperty name="color" value="#8DA0CB"/>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0:39:55.046"/>
    </inkml:context>
    <inkml:brush xml:id="br0">
      <inkml:brushProperty name="width" value="0.2" units="cm"/>
      <inkml:brushProperty name="height" value="0.2" units="cm"/>
      <inkml:brushProperty name="color" value="#FC8D62"/>
    </inkml:brush>
  </inkml:definitions>
  <inkml:trace contextRef="#ctx0" brushRef="#br0">0 0 24575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0:40:13.215"/>
    </inkml:context>
    <inkml:brush xml:id="br0">
      <inkml:brushProperty name="width" value="0.2" units="cm"/>
      <inkml:brushProperty name="height" value="0.2" units="cm"/>
      <inkml:brushProperty name="color" value="#66C2A5"/>
    </inkml:brush>
  </inkml:definitions>
  <inkml:trace contextRef="#ctx0" brushRef="#br0">0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A14D-96B6-AA28-CD63-27880DD499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E1BA1E-3E50-CE58-F85B-151956680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55BE3A-D361-52FA-9B90-41CFA944A65A}"/>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5" name="Footer Placeholder 4">
            <a:extLst>
              <a:ext uri="{FF2B5EF4-FFF2-40B4-BE49-F238E27FC236}">
                <a16:creationId xmlns:a16="http://schemas.microsoft.com/office/drawing/2014/main" id="{C5741626-C061-E248-9ED3-94259344EA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03A1B7-EE62-4EA8-DE9E-DFBC31A850E0}"/>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3425665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1C0F5-B671-059E-4715-31A1FB0413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8FE498-B281-4F59-3D69-E1FB712D55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C0AD11-C008-4773-2E62-AABC9883770B}"/>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5" name="Footer Placeholder 4">
            <a:extLst>
              <a:ext uri="{FF2B5EF4-FFF2-40B4-BE49-F238E27FC236}">
                <a16:creationId xmlns:a16="http://schemas.microsoft.com/office/drawing/2014/main" id="{0CC9B31E-E781-DDA8-9533-9D3E4F05BD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82FC44-B194-4F0F-032C-557CA9D8FA4D}"/>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3639124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36C78-A09D-325F-E5EE-09DBBC34D4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5B7116-FAEE-7514-2DDB-CFDAC32C61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D6B6F7-CBEF-51F5-66E8-804FE8A736F8}"/>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5" name="Footer Placeholder 4">
            <a:extLst>
              <a:ext uri="{FF2B5EF4-FFF2-40B4-BE49-F238E27FC236}">
                <a16:creationId xmlns:a16="http://schemas.microsoft.com/office/drawing/2014/main" id="{0985A945-A2AA-34B9-5C97-7E2419C94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16636C-3E25-BDC3-5F54-AACC885954B8}"/>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395389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76087-E662-B0E8-97DE-FF60278A31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B86463-69FF-8F83-9860-D7A754D4CF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B9928D-35D4-A909-40CE-C54C0B44C0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A5B34A-C2BF-47BB-0005-DC91DBDF2E23}"/>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6" name="Footer Placeholder 5">
            <a:extLst>
              <a:ext uri="{FF2B5EF4-FFF2-40B4-BE49-F238E27FC236}">
                <a16:creationId xmlns:a16="http://schemas.microsoft.com/office/drawing/2014/main" id="{DBEBFB8B-75D0-1978-7042-77A8733F56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1FCB6F-E552-E466-9A1C-D103992293E1}"/>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3634052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E318D-77BA-BF8B-381D-6B016F80FD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BF28EB-D6FB-76CC-3999-FD93A28AFC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443068-8881-DC13-FA3F-4807210D70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E38E2C-855A-88CF-2A79-B711B61BA1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A4FCEA-FD65-7DDB-3E12-7839E10785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76C62B-49EC-BBDE-4C15-46714A3EF808}"/>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8" name="Footer Placeholder 7">
            <a:extLst>
              <a:ext uri="{FF2B5EF4-FFF2-40B4-BE49-F238E27FC236}">
                <a16:creationId xmlns:a16="http://schemas.microsoft.com/office/drawing/2014/main" id="{11BCA341-C823-B4D8-C8AE-44C05DECAE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BCA3BD-2F8F-BCEC-3905-B2061C5A7C99}"/>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3093677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47D46-BBD1-7BC8-EB6E-DB7FBF675E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8C2B18-0F61-F17F-9D0C-C59A146D811D}"/>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4" name="Footer Placeholder 3">
            <a:extLst>
              <a:ext uri="{FF2B5EF4-FFF2-40B4-BE49-F238E27FC236}">
                <a16:creationId xmlns:a16="http://schemas.microsoft.com/office/drawing/2014/main" id="{19CCDB63-28B4-3D9E-741D-C2415E1FEC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9ACCD0-CAB9-086C-4792-71411E107C16}"/>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3417129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8E9855-FBF9-062F-D7FD-643450EA59FC}"/>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3" name="Footer Placeholder 2">
            <a:extLst>
              <a:ext uri="{FF2B5EF4-FFF2-40B4-BE49-F238E27FC236}">
                <a16:creationId xmlns:a16="http://schemas.microsoft.com/office/drawing/2014/main" id="{A06A9849-D390-F81A-9E99-188DF23A70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B452FE-3FA2-74A8-74F4-903648B0DAF4}"/>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2130242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A34CC-2FD4-D873-52D5-C7FE4DAC1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1BF2C9-BD42-892A-66D9-B9C88DBBDF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F752A0-5A98-58A2-5175-BE9D5C71CB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0A4E14-BFB5-FDC2-ECF2-348B19E4A481}"/>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6" name="Footer Placeholder 5">
            <a:extLst>
              <a:ext uri="{FF2B5EF4-FFF2-40B4-BE49-F238E27FC236}">
                <a16:creationId xmlns:a16="http://schemas.microsoft.com/office/drawing/2014/main" id="{7536B7B6-F9F0-6271-96BD-30E060CD8B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62F1D5-EC80-7331-4EA5-072B132F0181}"/>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2016282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4E9E1-E3D7-85CB-6288-AB89B3818F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1C3A88-DF61-A418-4545-988DA881AB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61C2AA-40F6-F950-C200-0E5A3CB0C9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18BB1B-6325-1E21-C36C-26A2BA79E318}"/>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6" name="Footer Placeholder 5">
            <a:extLst>
              <a:ext uri="{FF2B5EF4-FFF2-40B4-BE49-F238E27FC236}">
                <a16:creationId xmlns:a16="http://schemas.microsoft.com/office/drawing/2014/main" id="{E312746D-1EA4-62B4-7BCE-EF6C099238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71CB95-3700-4900-547F-6229352137B1}"/>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3550599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2430-122C-F0B6-E783-7D5190F044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B78EF6-3F92-B582-749F-DFC2DBEA49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2765F-7C22-B52C-F4CF-B25A77103D9A}"/>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5" name="Footer Placeholder 4">
            <a:extLst>
              <a:ext uri="{FF2B5EF4-FFF2-40B4-BE49-F238E27FC236}">
                <a16:creationId xmlns:a16="http://schemas.microsoft.com/office/drawing/2014/main" id="{39667240-2FD5-88C5-8CC3-26FACA7768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6F3652-D77D-0272-4BD1-13B98BC3B4DB}"/>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351813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34B140-35A8-B307-BE4F-CAB000BB3E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C1978E-3977-52AB-FBC8-0AFBAB572F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3D0E5-22FA-8585-381C-B16349D965EC}"/>
              </a:ext>
            </a:extLst>
          </p:cNvPr>
          <p:cNvSpPr>
            <a:spLocks noGrp="1"/>
          </p:cNvSpPr>
          <p:nvPr>
            <p:ph type="dt" sz="half" idx="10"/>
          </p:nvPr>
        </p:nvSpPr>
        <p:spPr/>
        <p:txBody>
          <a:bodyPr/>
          <a:lstStyle/>
          <a:p>
            <a:fld id="{8496A0C8-D4F5-48B1-A6B5-9EA35B9FF085}" type="datetimeFigureOut">
              <a:rPr lang="en-US" smtClean="0"/>
              <a:t>11/30/2025</a:t>
            </a:fld>
            <a:endParaRPr lang="en-US"/>
          </a:p>
        </p:txBody>
      </p:sp>
      <p:sp>
        <p:nvSpPr>
          <p:cNvPr id="5" name="Footer Placeholder 4">
            <a:extLst>
              <a:ext uri="{FF2B5EF4-FFF2-40B4-BE49-F238E27FC236}">
                <a16:creationId xmlns:a16="http://schemas.microsoft.com/office/drawing/2014/main" id="{FDD07077-CADE-CFCE-857A-137706D97F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4938DE-FED9-0E23-9DEB-B14A3C4DCBB7}"/>
              </a:ext>
            </a:extLst>
          </p:cNvPr>
          <p:cNvSpPr>
            <a:spLocks noGrp="1"/>
          </p:cNvSpPr>
          <p:nvPr>
            <p:ph type="sldNum" sz="quarter" idx="12"/>
          </p:nvPr>
        </p:nvSpPr>
        <p:spPr/>
        <p:txBody>
          <a:bodyPr/>
          <a:lstStyle/>
          <a:p>
            <a:fld id="{1E0FF427-BC32-41F2-8CA9-ED428C1B4A0D}" type="slidenum">
              <a:rPr lang="en-US" smtClean="0"/>
              <a:t>‹#›</a:t>
            </a:fld>
            <a:endParaRPr lang="en-US"/>
          </a:p>
        </p:txBody>
      </p:sp>
    </p:spTree>
    <p:extLst>
      <p:ext uri="{BB962C8B-B14F-4D97-AF65-F5344CB8AC3E}">
        <p14:creationId xmlns:p14="http://schemas.microsoft.com/office/powerpoint/2010/main" val="3460602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AF3D84-4770-F653-5CC9-C9905669A3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65BA23-2BC1-5762-A081-4D6005686E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DAE242-542F-7A8C-37D3-FB317AF871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96A0C8-D4F5-48B1-A6B5-9EA35B9FF085}" type="datetimeFigureOut">
              <a:rPr lang="en-US" smtClean="0"/>
              <a:t>11/30/2025</a:t>
            </a:fld>
            <a:endParaRPr lang="en-US"/>
          </a:p>
        </p:txBody>
      </p:sp>
      <p:sp>
        <p:nvSpPr>
          <p:cNvPr id="5" name="Footer Placeholder 4">
            <a:extLst>
              <a:ext uri="{FF2B5EF4-FFF2-40B4-BE49-F238E27FC236}">
                <a16:creationId xmlns:a16="http://schemas.microsoft.com/office/drawing/2014/main" id="{2731EBE8-958C-A89B-3EAF-3927961851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07BC84-03FE-90B2-ECE7-931DAE0C13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0FF427-BC32-41F2-8CA9-ED428C1B4A0D}" type="slidenum">
              <a:rPr lang="en-US" smtClean="0"/>
              <a:t>‹#›</a:t>
            </a:fld>
            <a:endParaRPr lang="en-US"/>
          </a:p>
        </p:txBody>
      </p:sp>
    </p:spTree>
    <p:extLst>
      <p:ext uri="{BB962C8B-B14F-4D97-AF65-F5344CB8AC3E}">
        <p14:creationId xmlns:p14="http://schemas.microsoft.com/office/powerpoint/2010/main" val="3117634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screenshot of a graph&#10;&#10;AI-generated content may be incorrect.">
            <a:extLst>
              <a:ext uri="{FF2B5EF4-FFF2-40B4-BE49-F238E27FC236}">
                <a16:creationId xmlns:a16="http://schemas.microsoft.com/office/drawing/2014/main" id="{8579F71A-6CDC-CB5B-3635-27855DA274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303" y="63824"/>
            <a:ext cx="8357393" cy="6078103"/>
          </a:xfrm>
          <a:prstGeom prst="rect">
            <a:avLst/>
          </a:prstGeom>
        </p:spPr>
      </p:pic>
      <p:sp>
        <p:nvSpPr>
          <p:cNvPr id="3" name="Subtitle 2">
            <a:extLst>
              <a:ext uri="{FF2B5EF4-FFF2-40B4-BE49-F238E27FC236}">
                <a16:creationId xmlns:a16="http://schemas.microsoft.com/office/drawing/2014/main" id="{8287DEC8-09ED-2E80-4F35-41E7303E5FD0}"/>
              </a:ext>
            </a:extLst>
          </p:cNvPr>
          <p:cNvSpPr>
            <a:spLocks noGrp="1"/>
          </p:cNvSpPr>
          <p:nvPr>
            <p:ph type="subTitle" idx="1"/>
          </p:nvPr>
        </p:nvSpPr>
        <p:spPr>
          <a:xfrm>
            <a:off x="0" y="5948523"/>
            <a:ext cx="12192000" cy="805695"/>
          </a:xfrm>
        </p:spPr>
        <p:txBody>
          <a:bodyPr>
            <a:normAutofit fontScale="47500" lnSpcReduction="20000"/>
          </a:bodyPr>
          <a:lstStyle/>
          <a:p>
            <a:r>
              <a:rPr lang="en-US" b="1" dirty="0"/>
              <a:t>Figure 1</a:t>
            </a:r>
            <a:r>
              <a:rPr lang="en-US" dirty="0"/>
              <a:t>: Alpha diversity and community composition of fish prey detected by 12S metabarcoding in three Arctic marine predators. </a:t>
            </a:r>
            <a:r>
              <a:rPr lang="en-US" b="1" dirty="0"/>
              <a:t>(A) </a:t>
            </a:r>
            <a:r>
              <a:rPr lang="en-US" dirty="0"/>
              <a:t>Alpha diversity (Shannon and Simpson indices) of gut contents is shown by year for bearded seals, beluga whales, and ringed seals; points represent individual samples and boxplots summarize predator–year distributions.</a:t>
            </a:r>
            <a:r>
              <a:rPr lang="en-US" b="1" dirty="0"/>
              <a:t> (B) </a:t>
            </a:r>
            <a:r>
              <a:rPr lang="en-US" dirty="0"/>
              <a:t>Non-metric multidimensional scaling (NMDS) ordination based on Bray–Curtis dissimilarities of relative read abundance illustrates differences in overall prey community composition among predators; points are individual samples, colored by predator, and shaded ellipses represent 95% confidence regions. </a:t>
            </a:r>
            <a:r>
              <a:rPr lang="en-US" b="1" dirty="0"/>
              <a:t>(C) </a:t>
            </a:r>
            <a:r>
              <a:rPr lang="en-US" dirty="0"/>
              <a:t>Stacked bar plots of relative read abundance at the family level display prey taxonomic composition of individual samples, faceted by predator; bars are samples and colors denote fish families. Together, panels indicate that predators differ in both prey diversity and taxonomic composition, with partially overlapping but distinct multivariate prey assemblages.</a:t>
            </a:r>
          </a:p>
        </p:txBody>
      </p:sp>
      <p:sp>
        <p:nvSpPr>
          <p:cNvPr id="8" name="TextBox 7">
            <a:extLst>
              <a:ext uri="{FF2B5EF4-FFF2-40B4-BE49-F238E27FC236}">
                <a16:creationId xmlns:a16="http://schemas.microsoft.com/office/drawing/2014/main" id="{D2FE7681-4F69-D7DB-9375-BD6A6CD41CD7}"/>
              </a:ext>
            </a:extLst>
          </p:cNvPr>
          <p:cNvSpPr txBox="1"/>
          <p:nvPr/>
        </p:nvSpPr>
        <p:spPr>
          <a:xfrm>
            <a:off x="1917303" y="63824"/>
            <a:ext cx="269346" cy="646331"/>
          </a:xfrm>
          <a:prstGeom prst="rect">
            <a:avLst/>
          </a:prstGeom>
          <a:noFill/>
        </p:spPr>
        <p:txBody>
          <a:bodyPr wrap="square" rtlCol="0">
            <a:spAutoFit/>
          </a:bodyPr>
          <a:lstStyle/>
          <a:p>
            <a:r>
              <a:rPr lang="en-US" dirty="0"/>
              <a:t>A</a:t>
            </a:r>
          </a:p>
          <a:p>
            <a:endParaRPr lang="en-US" dirty="0"/>
          </a:p>
        </p:txBody>
      </p:sp>
      <p:sp>
        <p:nvSpPr>
          <p:cNvPr id="9" name="TextBox 8">
            <a:extLst>
              <a:ext uri="{FF2B5EF4-FFF2-40B4-BE49-F238E27FC236}">
                <a16:creationId xmlns:a16="http://schemas.microsoft.com/office/drawing/2014/main" id="{025158AB-89E8-022A-3462-93A1352D5DBC}"/>
              </a:ext>
            </a:extLst>
          </p:cNvPr>
          <p:cNvSpPr txBox="1"/>
          <p:nvPr/>
        </p:nvSpPr>
        <p:spPr>
          <a:xfrm>
            <a:off x="6281867" y="67142"/>
            <a:ext cx="272037" cy="646331"/>
          </a:xfrm>
          <a:prstGeom prst="rect">
            <a:avLst/>
          </a:prstGeom>
          <a:noFill/>
        </p:spPr>
        <p:txBody>
          <a:bodyPr wrap="square" rtlCol="0">
            <a:spAutoFit/>
          </a:bodyPr>
          <a:lstStyle/>
          <a:p>
            <a:r>
              <a:rPr lang="en-US" dirty="0"/>
              <a:t>B</a:t>
            </a:r>
          </a:p>
          <a:p>
            <a:endParaRPr lang="en-US" dirty="0"/>
          </a:p>
        </p:txBody>
      </p:sp>
      <p:sp>
        <p:nvSpPr>
          <p:cNvPr id="10" name="TextBox 9">
            <a:extLst>
              <a:ext uri="{FF2B5EF4-FFF2-40B4-BE49-F238E27FC236}">
                <a16:creationId xmlns:a16="http://schemas.microsoft.com/office/drawing/2014/main" id="{34E80FEB-9C94-B8CC-F5AC-D080C05ED12F}"/>
              </a:ext>
            </a:extLst>
          </p:cNvPr>
          <p:cNvSpPr txBox="1"/>
          <p:nvPr/>
        </p:nvSpPr>
        <p:spPr>
          <a:xfrm>
            <a:off x="1897123" y="3230374"/>
            <a:ext cx="289526" cy="646331"/>
          </a:xfrm>
          <a:prstGeom prst="rect">
            <a:avLst/>
          </a:prstGeom>
          <a:noFill/>
        </p:spPr>
        <p:txBody>
          <a:bodyPr wrap="square" rtlCol="0">
            <a:spAutoFit/>
          </a:bodyPr>
          <a:lstStyle/>
          <a:p>
            <a:r>
              <a:rPr lang="en-US" dirty="0"/>
              <a:t>C</a:t>
            </a:r>
          </a:p>
          <a:p>
            <a:endParaRPr lang="en-US" dirty="0"/>
          </a:p>
        </p:txBody>
      </p:sp>
      <mc:AlternateContent xmlns:mc="http://schemas.openxmlformats.org/markup-compatibility/2006">
        <mc:Choice xmlns:p14="http://schemas.microsoft.com/office/powerpoint/2010/main" Requires="p14">
          <p:contentPart p14:bwMode="auto" r:id="rId3">
            <p14:nvContentPartPr>
              <p14:cNvPr id="19" name="Ink 18">
                <a:extLst>
                  <a:ext uri="{FF2B5EF4-FFF2-40B4-BE49-F238E27FC236}">
                    <a16:creationId xmlns:a16="http://schemas.microsoft.com/office/drawing/2014/main" id="{5BE998EB-3A2A-FD17-76D6-6EEDCDF0E20E}"/>
                  </a:ext>
                </a:extLst>
              </p14:cNvPr>
              <p14:cNvContentPartPr/>
              <p14:nvPr/>
            </p14:nvContentPartPr>
            <p14:xfrm>
              <a:off x="8582586" y="3477903"/>
              <a:ext cx="360" cy="360"/>
            </p14:xfrm>
          </p:contentPart>
        </mc:Choice>
        <mc:Fallback>
          <p:pic>
            <p:nvPicPr>
              <p:cNvPr id="19" name="Ink 18">
                <a:extLst>
                  <a:ext uri="{FF2B5EF4-FFF2-40B4-BE49-F238E27FC236}">
                    <a16:creationId xmlns:a16="http://schemas.microsoft.com/office/drawing/2014/main" id="{5BE998EB-3A2A-FD17-76D6-6EEDCDF0E20E}"/>
                  </a:ext>
                </a:extLst>
              </p:cNvPr>
              <p:cNvPicPr/>
              <p:nvPr/>
            </p:nvPicPr>
            <p:blipFill>
              <a:blip r:embed="rId4"/>
              <a:stretch>
                <a:fillRect/>
              </a:stretch>
            </p:blipFill>
            <p:spPr>
              <a:xfrm>
                <a:off x="8546946" y="3442263"/>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0" name="Ink 19">
                <a:extLst>
                  <a:ext uri="{FF2B5EF4-FFF2-40B4-BE49-F238E27FC236}">
                    <a16:creationId xmlns:a16="http://schemas.microsoft.com/office/drawing/2014/main" id="{D26C00BA-A70E-3AA4-3E59-6D01BD714C34}"/>
                  </a:ext>
                </a:extLst>
              </p14:cNvPr>
              <p14:cNvContentPartPr/>
              <p14:nvPr/>
            </p14:nvContentPartPr>
            <p14:xfrm>
              <a:off x="5890146" y="3472503"/>
              <a:ext cx="360" cy="360"/>
            </p14:xfrm>
          </p:contentPart>
        </mc:Choice>
        <mc:Fallback>
          <p:pic>
            <p:nvPicPr>
              <p:cNvPr id="20" name="Ink 19">
                <a:extLst>
                  <a:ext uri="{FF2B5EF4-FFF2-40B4-BE49-F238E27FC236}">
                    <a16:creationId xmlns:a16="http://schemas.microsoft.com/office/drawing/2014/main" id="{D26C00BA-A70E-3AA4-3E59-6D01BD714C34}"/>
                  </a:ext>
                </a:extLst>
              </p:cNvPr>
              <p:cNvPicPr/>
              <p:nvPr/>
            </p:nvPicPr>
            <p:blipFill>
              <a:blip r:embed="rId6"/>
              <a:stretch>
                <a:fillRect/>
              </a:stretch>
            </p:blipFill>
            <p:spPr>
              <a:xfrm>
                <a:off x="5854146" y="3436503"/>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1" name="Ink 20">
                <a:extLst>
                  <a:ext uri="{FF2B5EF4-FFF2-40B4-BE49-F238E27FC236}">
                    <a16:creationId xmlns:a16="http://schemas.microsoft.com/office/drawing/2014/main" id="{13C4EECC-E0F5-8BFC-6276-F1BCEF3CD691}"/>
                  </a:ext>
                </a:extLst>
              </p14:cNvPr>
              <p14:cNvContentPartPr/>
              <p14:nvPr/>
            </p14:nvContentPartPr>
            <p14:xfrm>
              <a:off x="3270426" y="3472503"/>
              <a:ext cx="360" cy="360"/>
            </p14:xfrm>
          </p:contentPart>
        </mc:Choice>
        <mc:Fallback>
          <p:pic>
            <p:nvPicPr>
              <p:cNvPr id="21" name="Ink 20">
                <a:extLst>
                  <a:ext uri="{FF2B5EF4-FFF2-40B4-BE49-F238E27FC236}">
                    <a16:creationId xmlns:a16="http://schemas.microsoft.com/office/drawing/2014/main" id="{13C4EECC-E0F5-8BFC-6276-F1BCEF3CD691}"/>
                  </a:ext>
                </a:extLst>
              </p:cNvPr>
              <p:cNvPicPr/>
              <p:nvPr/>
            </p:nvPicPr>
            <p:blipFill>
              <a:blip r:embed="rId8"/>
              <a:stretch>
                <a:fillRect/>
              </a:stretch>
            </p:blipFill>
            <p:spPr>
              <a:xfrm>
                <a:off x="3234426" y="3436503"/>
                <a:ext cx="72000" cy="72000"/>
              </a:xfrm>
              <a:prstGeom prst="rect">
                <a:avLst/>
              </a:prstGeom>
            </p:spPr>
          </p:pic>
        </mc:Fallback>
      </mc:AlternateContent>
    </p:spTree>
    <p:extLst>
      <p:ext uri="{BB962C8B-B14F-4D97-AF65-F5344CB8AC3E}">
        <p14:creationId xmlns:p14="http://schemas.microsoft.com/office/powerpoint/2010/main" val="490430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0D3AE-45FB-BE51-3BD1-3E913D28B33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62991B8-86F1-B1F6-5941-BDD593D2332A}"/>
              </a:ext>
            </a:extLst>
          </p:cNvPr>
          <p:cNvSpPr>
            <a:spLocks noGrp="1"/>
          </p:cNvSpPr>
          <p:nvPr>
            <p:ph type="subTitle" idx="1"/>
          </p:nvPr>
        </p:nvSpPr>
        <p:spPr>
          <a:xfrm>
            <a:off x="254000" y="6064250"/>
            <a:ext cx="11822080" cy="730250"/>
          </a:xfrm>
        </p:spPr>
        <p:txBody>
          <a:bodyPr>
            <a:normAutofit fontScale="55000" lnSpcReduction="20000"/>
          </a:bodyPr>
          <a:lstStyle/>
          <a:p>
            <a:r>
              <a:rPr lang="en-US" b="1" dirty="0"/>
              <a:t>Figure 2</a:t>
            </a:r>
            <a:r>
              <a:rPr lang="en-US" dirty="0"/>
              <a:t>: Effects of sampling and biological factors on fish prey species richness in Arctic marine predators. Boxplots show variation in metabarcoding-derived species richness across genetic markers, collection locations in Alaska, sex, season, body compartment (stomach vs. feces), predator species, and year of collection. Letters above boxes indicate Tukey HSD groupings from one-way ANOVAs within each panel, with shared letters denoting non-significant differences. Together, panels highlight which ecological and sampling variables are most strongly associated with variation in detected fish prey richness.</a:t>
            </a:r>
          </a:p>
        </p:txBody>
      </p:sp>
      <p:pic>
        <p:nvPicPr>
          <p:cNvPr id="4" name="Picture 3" descr="A group of diagrams with text&#10;&#10;AI-generated content may be incorrect.">
            <a:extLst>
              <a:ext uri="{FF2B5EF4-FFF2-40B4-BE49-F238E27FC236}">
                <a16:creationId xmlns:a16="http://schemas.microsoft.com/office/drawing/2014/main" id="{5E8592A6-0035-DB0C-4BE5-689ACF389B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7825" y="63500"/>
            <a:ext cx="8896350" cy="5930900"/>
          </a:xfrm>
          <a:prstGeom prst="rect">
            <a:avLst/>
          </a:prstGeom>
        </p:spPr>
      </p:pic>
    </p:spTree>
    <p:extLst>
      <p:ext uri="{BB962C8B-B14F-4D97-AF65-F5344CB8AC3E}">
        <p14:creationId xmlns:p14="http://schemas.microsoft.com/office/powerpoint/2010/main" val="1311825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1047</TotalTime>
  <Words>269</Words>
  <Application>Microsoft Office PowerPoint</Application>
  <PresentationFormat>Widescreen</PresentationFormat>
  <Paragraphs>5</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Mollie E Ball</dc:creator>
  <cp:lastModifiedBy>Mollie E Ball</cp:lastModifiedBy>
  <cp:revision>1</cp:revision>
  <dcterms:created xsi:type="dcterms:W3CDTF">2025-12-01T00:02:41Z</dcterms:created>
  <dcterms:modified xsi:type="dcterms:W3CDTF">2025-12-01T17:30:28Z</dcterms:modified>
</cp:coreProperties>
</file>